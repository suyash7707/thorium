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74" r:id="rId6"/>
    <p:sldId id="260" r:id="rId7"/>
    <p:sldId id="261" r:id="rId8"/>
    <p:sldId id="262" r:id="rId9"/>
    <p:sldId id="263" r:id="rId10"/>
    <p:sldId id="273" r:id="rId11"/>
    <p:sldId id="264" r:id="rId12"/>
    <p:sldId id="265" r:id="rId13"/>
    <p:sldId id="266" r:id="rId14"/>
    <p:sldId id="267" r:id="rId15"/>
    <p:sldId id="268" r:id="rId16"/>
    <p:sldId id="271" r:id="rId17"/>
    <p:sldId id="269" r:id="rId18"/>
    <p:sldId id="272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64" autoAdjust="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Thorium : </a:t>
            </a:r>
            <a:r>
              <a:rPr lang="en-GB" alt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</a:t>
            </a:r>
            <a:r>
              <a:rPr lang="en-GB" alt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new source of energy?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064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1026" y="496388"/>
            <a:ext cx="3793990" cy="1496197"/>
          </a:xfrm>
        </p:spPr>
        <p:txBody>
          <a:bodyPr/>
          <a:lstStyle/>
          <a:p>
            <a:r>
              <a:rPr lang="en-IN" dirty="0" err="1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022" y="1867989"/>
            <a:ext cx="9905999" cy="4402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 smtClean="0"/>
              <a:t>Energy consumption..</a:t>
            </a:r>
          </a:p>
          <a:p>
            <a:pPr marL="0" indent="0">
              <a:buNone/>
            </a:pPr>
            <a:r>
              <a:rPr lang="en-IN" sz="2800" dirty="0" smtClean="0"/>
              <a:t>Renewable energy..</a:t>
            </a:r>
          </a:p>
          <a:p>
            <a:pPr marL="0" indent="0">
              <a:buNone/>
            </a:pPr>
            <a:r>
              <a:rPr lang="en-IN" sz="2800" dirty="0" smtClean="0"/>
              <a:t>Environment.</a:t>
            </a: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143" y="1773555"/>
            <a:ext cx="45910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68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 new primary energy source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GB" altLang="en-US" sz="2000" dirty="0"/>
              <a:t>By 2050, the world’s consumption (+ 2%/y) should reach 34 TW, of which 20 TW should come from new energy sources:</a:t>
            </a:r>
            <a:br>
              <a:rPr lang="en-GB" altLang="en-US" sz="2000" dirty="0"/>
            </a:br>
            <a:r>
              <a:rPr lang="en-US" altLang="en-US" sz="2000" b="1" dirty="0">
                <a:solidFill>
                  <a:srgbClr val="CC0000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000" b="1" dirty="0">
                <a:solidFill>
                  <a:srgbClr val="CC0000"/>
                </a:solidFill>
              </a:rPr>
              <a:t> </a:t>
            </a:r>
            <a:r>
              <a:rPr lang="en-GB" altLang="en-US" sz="2000" b="1" dirty="0">
                <a:solidFill>
                  <a:srgbClr val="CC0000"/>
                </a:solidFill>
              </a:rPr>
              <a:t>A major innovation is needed </a:t>
            </a:r>
            <a:r>
              <a:rPr lang="en-GB" altLang="en-US" sz="2000" dirty="0"/>
              <a:t>in order to replace the expected “decay” of the traditional energy sources</a:t>
            </a:r>
            <a:r>
              <a:rPr lang="en-GB" altLang="en-US" sz="2000" b="1" dirty="0">
                <a:solidFill>
                  <a:srgbClr val="CC0000"/>
                </a:solidFill>
              </a:rPr>
              <a:t>!</a:t>
            </a:r>
          </a:p>
          <a:p>
            <a:pPr>
              <a:lnSpc>
                <a:spcPct val="90000"/>
              </a:lnSpc>
            </a:pPr>
            <a:endParaRPr lang="en-GB" altLang="en-US" sz="1600" dirty="0"/>
          </a:p>
          <a:p>
            <a:pPr>
              <a:lnSpc>
                <a:spcPct val="90000"/>
              </a:lnSpc>
            </a:pPr>
            <a:r>
              <a:rPr lang="en-GB" altLang="en-US" sz="2000" dirty="0"/>
              <a:t>This implies a strong R&amp;D effort, which is the only hope to solve the energy problem on the long term. This R&amp;D should not exclude any direction a priori!</a:t>
            </a:r>
            <a:endParaRPr lang="en-GB" altLang="en-US" sz="2000" b="1" dirty="0">
              <a:solidFill>
                <a:srgbClr val="CC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altLang="en-US" sz="1600" b="1" dirty="0">
                <a:solidFill>
                  <a:srgbClr val="CC0000"/>
                </a:solidFill>
              </a:rPr>
              <a:t>Renewables</a:t>
            </a:r>
          </a:p>
          <a:p>
            <a:pPr lvl="1">
              <a:lnSpc>
                <a:spcPct val="90000"/>
              </a:lnSpc>
            </a:pPr>
            <a:r>
              <a:rPr lang="en-GB" altLang="en-US" sz="1600" b="1" dirty="0">
                <a:solidFill>
                  <a:srgbClr val="CC0000"/>
                </a:solidFill>
              </a:rPr>
              <a:t>Nuclear (fission and fusion)</a:t>
            </a:r>
          </a:p>
          <a:p>
            <a:pPr lvl="1">
              <a:lnSpc>
                <a:spcPct val="90000"/>
              </a:lnSpc>
            </a:pPr>
            <a:r>
              <a:rPr lang="en-GB" altLang="en-US" sz="1600" b="1" dirty="0">
                <a:solidFill>
                  <a:srgbClr val="CC0000"/>
                </a:solidFill>
              </a:rPr>
              <a:t>Use of hydrogen</a:t>
            </a:r>
          </a:p>
          <a:p>
            <a:pPr>
              <a:lnSpc>
                <a:spcPct val="90000"/>
              </a:lnSpc>
            </a:pPr>
            <a:endParaRPr lang="en-GB" altLang="en-US" sz="1600" b="1" dirty="0">
              <a:solidFill>
                <a:srgbClr val="CC0000"/>
              </a:solidFill>
            </a:endParaRPr>
          </a:p>
          <a:p>
            <a:pPr>
              <a:lnSpc>
                <a:spcPct val="90000"/>
              </a:lnSpc>
            </a:pPr>
            <a:r>
              <a:rPr lang="en-GB" altLang="en-US" sz="2000" dirty="0"/>
              <a:t>Can nuclear energy play a major role?</a:t>
            </a:r>
          </a:p>
          <a:p>
            <a:pPr>
              <a:lnSpc>
                <a:spcPct val="90000"/>
              </a:lnSpc>
            </a:pPr>
            <a:endParaRPr lang="en-GB" altLang="en-US" sz="1600" dirty="0"/>
          </a:p>
          <a:p>
            <a:pPr>
              <a:lnSpc>
                <a:spcPct val="90000"/>
              </a:lnSpc>
            </a:pPr>
            <a:r>
              <a:rPr lang="en-GB" altLang="en-US" sz="2000" b="1" dirty="0">
                <a:solidFill>
                  <a:srgbClr val="CC0000"/>
                </a:solidFill>
              </a:rPr>
              <a:t>Nuclear energy has the potential to satisfy the demand for a long time</a:t>
            </a:r>
            <a:r>
              <a:rPr lang="en-GB" altLang="en-US" sz="2000" dirty="0"/>
              <a:t> (at least 15 centuries for fission, essentially infinite for fusion), and is obviously appealing from the point of view of atmospheric emissions.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72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WHICH TYPE OF NUCLEAR ENERGY?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Nuclear fusion energy: not yet proven to be practical. Conceptual level not reached (magnetic or inertial confinement?). ITER a step, hopefully in the right direction.</a:t>
            </a:r>
          </a:p>
          <a:p>
            <a:r>
              <a:rPr lang="en-IN" dirty="0"/>
              <a:t>Nuclear fission energy: well understood, and the technology exists, with a long (≥ 50 years) experience, however, present scheme has its own problems:</a:t>
            </a:r>
          </a:p>
          <a:p>
            <a:r>
              <a:rPr lang="en-IN" dirty="0"/>
              <a:t>Military proliferation (production and extraction of plutonium);</a:t>
            </a:r>
          </a:p>
          <a:p>
            <a:r>
              <a:rPr lang="en-IN" dirty="0"/>
              <a:t>Possibility of accidents (Chernobyl [1986]; Three Mile island [1979]);</a:t>
            </a:r>
          </a:p>
          <a:p>
            <a:r>
              <a:rPr lang="en-IN" dirty="0"/>
              <a:t>Waste management.</a:t>
            </a:r>
          </a:p>
          <a:p>
            <a:r>
              <a:rPr lang="en-IN" dirty="0"/>
              <a:t>However, it is not given by Nature, that the way we use nuclear fission energy today is the only and best way to do it. One should rather ask the question:</a:t>
            </a:r>
            <a:br>
              <a:rPr lang="en-IN" dirty="0"/>
            </a:br>
            <a:endParaRPr lang="en-IN" dirty="0"/>
          </a:p>
          <a:p>
            <a:r>
              <a:rPr lang="en-IN" dirty="0"/>
              <a:t>Could nuclear fission be exploited in a way that is acceptable to Society?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84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a nuclear reactor works?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789612"/>
            <a:ext cx="7223760" cy="4389120"/>
          </a:xfrm>
        </p:spPr>
      </p:pic>
    </p:spTree>
    <p:extLst>
      <p:ext uri="{BB962C8B-B14F-4D97-AF65-F5344CB8AC3E}">
        <p14:creationId xmlns:p14="http://schemas.microsoft.com/office/powerpoint/2010/main" val="370035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Thorium fuel cycle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Thorium cycle is a nuclear cycle that uses isotope of thorium 232 as fertile material.</a:t>
            </a:r>
          </a:p>
          <a:p>
            <a:pPr marL="0" indent="0">
              <a:buNone/>
            </a:pPr>
            <a:r>
              <a:rPr lang="en-IN" dirty="0" smtClean="0"/>
              <a:t>In the </a:t>
            </a:r>
            <a:r>
              <a:rPr lang="en-IN" dirty="0" err="1" smtClean="0"/>
              <a:t>reactor,Th</a:t>
            </a:r>
            <a:r>
              <a:rPr lang="en-IN" dirty="0" smtClean="0"/>
              <a:t> is transmuted into fissile artificial U233 which is the nuclear fuel</a:t>
            </a:r>
          </a:p>
          <a:p>
            <a:pPr marL="0" indent="0">
              <a:buNone/>
            </a:pPr>
            <a:r>
              <a:rPr lang="en-IN" dirty="0" smtClean="0"/>
              <a:t>Thorium cycle claims numerous potential advantage over Uranium cycle-</a:t>
            </a:r>
          </a:p>
          <a:p>
            <a:pPr marL="0" indent="0">
              <a:buNone/>
            </a:pPr>
            <a:r>
              <a:rPr lang="en-IN" dirty="0" smtClean="0"/>
              <a:t>Thorium’s greater </a:t>
            </a:r>
            <a:r>
              <a:rPr lang="en-IN" dirty="0" err="1" smtClean="0"/>
              <a:t>abundance,superior</a:t>
            </a:r>
            <a:r>
              <a:rPr lang="en-IN" dirty="0" smtClean="0"/>
              <a:t> physical and nuclear </a:t>
            </a:r>
            <a:r>
              <a:rPr lang="en-IN" dirty="0" err="1" smtClean="0"/>
              <a:t>properties,better</a:t>
            </a:r>
            <a:r>
              <a:rPr lang="en-IN" dirty="0" smtClean="0"/>
              <a:t> resistance to nuclear </a:t>
            </a:r>
            <a:r>
              <a:rPr lang="en-IN" dirty="0" err="1" smtClean="0"/>
              <a:t>weapons,plutonium</a:t>
            </a:r>
            <a:r>
              <a:rPr lang="en-IN" dirty="0" smtClean="0"/>
              <a:t> and actinide production etc.</a:t>
            </a:r>
          </a:p>
        </p:txBody>
      </p:sp>
    </p:spTree>
    <p:extLst>
      <p:ext uri="{BB962C8B-B14F-4D97-AF65-F5344CB8AC3E}">
        <p14:creationId xmlns:p14="http://schemas.microsoft.com/office/powerpoint/2010/main" val="138235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NUCLEAR REACTION WITH THORIUM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In the thorium </a:t>
            </a:r>
            <a:r>
              <a:rPr lang="en-IN" dirty="0" err="1" smtClean="0"/>
              <a:t>cycle,fuel</a:t>
            </a:r>
            <a:r>
              <a:rPr lang="en-IN" dirty="0" smtClean="0"/>
              <a:t> is formed when U 232 captures a Neutron(whether it’s a fast reactor or thermal reactor) to become Th233.This normally emits an electron and anti neutrino (v) by  </a:t>
            </a:r>
            <a:r>
              <a:rPr lang="el-GR" dirty="0" smtClean="0"/>
              <a:t>β</a:t>
            </a:r>
            <a:r>
              <a:rPr lang="en-IN" dirty="0"/>
              <a:t>-</a:t>
            </a:r>
            <a:r>
              <a:rPr lang="en-IN" dirty="0" smtClean="0"/>
              <a:t>decay to become 233Pa.This then emits another electron and anti neutrino by a second </a:t>
            </a:r>
            <a:r>
              <a:rPr lang="el-GR" dirty="0"/>
              <a:t>β</a:t>
            </a:r>
            <a:r>
              <a:rPr lang="en-IN" dirty="0"/>
              <a:t>-decay </a:t>
            </a:r>
            <a:r>
              <a:rPr lang="en-IN" dirty="0" smtClean="0"/>
              <a:t>to become U 233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401" y="4491137"/>
            <a:ext cx="5087060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31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818" y="618518"/>
            <a:ext cx="8591594" cy="1478570"/>
          </a:xfrm>
        </p:spPr>
        <p:txBody>
          <a:bodyPr/>
          <a:lstStyle/>
          <a:p>
            <a:r>
              <a:rPr lang="en-IN" dirty="0" smtClean="0"/>
              <a:t>ENERGY FROM THORIUM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825" y="2398844"/>
            <a:ext cx="4734586" cy="298174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69" y="1682090"/>
            <a:ext cx="5149606" cy="441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1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DO WE NEED THORIUM?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090" y="2249488"/>
            <a:ext cx="7782646" cy="3541712"/>
          </a:xfrm>
        </p:spPr>
      </p:pic>
    </p:spTree>
    <p:extLst>
      <p:ext uri="{BB962C8B-B14F-4D97-AF65-F5344CB8AC3E}">
        <p14:creationId xmlns:p14="http://schemas.microsoft.com/office/powerpoint/2010/main" val="121737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Molten salt reactors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663" y="1907177"/>
            <a:ext cx="7667897" cy="4127863"/>
          </a:xfrm>
        </p:spPr>
      </p:pic>
    </p:spTree>
    <p:extLst>
      <p:ext uri="{BB962C8B-B14F-4D97-AF65-F5344CB8AC3E}">
        <p14:creationId xmlns:p14="http://schemas.microsoft.com/office/powerpoint/2010/main" val="382331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509451"/>
            <a:ext cx="9905999" cy="5281750"/>
          </a:xfrm>
        </p:spPr>
        <p:txBody>
          <a:bodyPr/>
          <a:lstStyle/>
          <a:p>
            <a:r>
              <a:rPr lang="en-IN" dirty="0" smtClean="0"/>
              <a:t>World energy consumption is rapidly </a:t>
            </a:r>
            <a:r>
              <a:rPr lang="en-IN" dirty="0" err="1" smtClean="0"/>
              <a:t>escalating.Future</a:t>
            </a:r>
            <a:r>
              <a:rPr lang="en-IN" dirty="0" smtClean="0"/>
              <a:t> energy consumption has been significantly underestimated.</a:t>
            </a:r>
          </a:p>
          <a:p>
            <a:r>
              <a:rPr lang="en-IN" dirty="0" smtClean="0"/>
              <a:t>In 2007 we consumed-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93" y="2042839"/>
            <a:ext cx="7392432" cy="19624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93" y="4005263"/>
            <a:ext cx="739243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09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THORIUM FUEL SUPPLY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THORIUM IS ABUNDANT IN THE WORLD</a:t>
            </a:r>
          </a:p>
          <a:p>
            <a:r>
              <a:rPr lang="en-IN" dirty="0" smtClean="0"/>
              <a:t>ESTIMATED WORLD RESERVE OF 1.4M MT</a:t>
            </a:r>
          </a:p>
          <a:p>
            <a:r>
              <a:rPr lang="en-IN" dirty="0" smtClean="0"/>
              <a:t>INDIA has 20% of the World’s reserve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503" y="1042805"/>
            <a:ext cx="4441370" cy="24133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657" y="3880455"/>
            <a:ext cx="2286000" cy="2000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880455"/>
            <a:ext cx="3383279" cy="191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87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ENERGY COMPARISON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316" y="2725580"/>
            <a:ext cx="2215028" cy="21976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466" y="1123963"/>
            <a:ext cx="4951240" cy="97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2991114"/>
            <a:ext cx="3257394" cy="12650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12" y="4923221"/>
            <a:ext cx="2866507" cy="9163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12919" y="224555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230 train cars (25,000 MT) of bituminous coal or,</a:t>
            </a:r>
          </a:p>
          <a:p>
            <a:r>
              <a:rPr lang="en-IN" dirty="0"/>
              <a:t>600 train cars (66,000 MT) of brown coal,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12" y="417766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or, 440 million cubic feet of natural gas (15% of a</a:t>
            </a:r>
          </a:p>
          <a:p>
            <a:r>
              <a:rPr lang="en-IN" dirty="0"/>
              <a:t>125,000 cubic meter LNG tanker),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12" y="59549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or, 300 kg of enriched (3%) uranium in a</a:t>
            </a:r>
          </a:p>
          <a:p>
            <a:r>
              <a:rPr lang="en-IN" dirty="0"/>
              <a:t>pressurized water reactor.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9282" y="3456628"/>
            <a:ext cx="5261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/>
              <a:t>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665" y="497395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6 kg of fissile material in a liquid-fluoride</a:t>
            </a:r>
          </a:p>
          <a:p>
            <a:r>
              <a:rPr lang="en-IN" dirty="0"/>
              <a:t>reactor has the energy equivalent (66,000</a:t>
            </a:r>
          </a:p>
          <a:p>
            <a:r>
              <a:rPr lang="en-IN" dirty="0"/>
              <a:t>MW*hr electrical*) of:</a:t>
            </a:r>
          </a:p>
        </p:txBody>
      </p:sp>
    </p:spTree>
    <p:extLst>
      <p:ext uri="{BB962C8B-B14F-4D97-AF65-F5344CB8AC3E}">
        <p14:creationId xmlns:p14="http://schemas.microsoft.com/office/powerpoint/2010/main" val="4133579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Inherent Safety</a:t>
            </a:r>
          </a:p>
          <a:p>
            <a:r>
              <a:rPr lang="en-IN" dirty="0" smtClean="0"/>
              <a:t>Stable coolant-molten fluorides are chemically stable and impervious to radiation.</a:t>
            </a:r>
          </a:p>
          <a:p>
            <a:r>
              <a:rPr lang="en-IN" dirty="0" smtClean="0"/>
              <a:t>Low pressure operations</a:t>
            </a:r>
          </a:p>
          <a:p>
            <a:r>
              <a:rPr lang="en-IN" dirty="0" smtClean="0"/>
              <a:t>Leak resistance-due to low pressure operation, potential for large leaks greatly reduced.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30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Potential risks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India’s nuclear program compared to rest of the world.</a:t>
            </a:r>
          </a:p>
          <a:p>
            <a:r>
              <a:rPr lang="en-IN" dirty="0" smtClean="0"/>
              <a:t>No one knows what we are getting ourselves into.</a:t>
            </a:r>
          </a:p>
          <a:p>
            <a:r>
              <a:rPr lang="en-IN" dirty="0" smtClean="0"/>
              <a:t>Initial cost to setup is highly speculative.</a:t>
            </a:r>
          </a:p>
          <a:p>
            <a:r>
              <a:rPr lang="en-IN" dirty="0" smtClean="0"/>
              <a:t>Is it cost affective?</a:t>
            </a:r>
          </a:p>
          <a:p>
            <a:r>
              <a:rPr lang="en-IN" dirty="0"/>
              <a:t>Stakes are high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408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India’s three stage Nuclear Power program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9063" y="1959429"/>
            <a:ext cx="7837713" cy="454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33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</a:t>
            </a:r>
            <a:r>
              <a:rPr lang="en-IN" dirty="0" smtClean="0"/>
              <a:t>an renewables solve the energy crisis in the future?</a:t>
            </a:r>
          </a:p>
          <a:p>
            <a:pPr marL="0" indent="0">
              <a:buNone/>
            </a:pPr>
            <a:r>
              <a:rPr lang="en-IN" dirty="0" smtClean="0"/>
              <a:t>We need more research and development.</a:t>
            </a:r>
          </a:p>
          <a:p>
            <a:pPr marL="0" indent="0">
              <a:buNone/>
            </a:pPr>
            <a:r>
              <a:rPr lang="en-IN" dirty="0" smtClean="0"/>
              <a:t>Reducing the carbon footprint.</a:t>
            </a:r>
          </a:p>
          <a:p>
            <a:pPr marL="0" indent="0">
              <a:buNone/>
            </a:pPr>
            <a:r>
              <a:rPr lang="en-IN" dirty="0" smtClean="0"/>
              <a:t>How much risk are we willing to take?</a:t>
            </a:r>
          </a:p>
          <a:p>
            <a:pPr marL="0" indent="0">
              <a:buNone/>
            </a:pPr>
            <a:r>
              <a:rPr lang="en-IN" dirty="0" smtClean="0"/>
              <a:t>What choice do we have?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9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[1] “Ministry of Power". Powermin.gov.in. Retrieved 22 August 2010.</a:t>
            </a:r>
          </a:p>
          <a:p>
            <a:r>
              <a:rPr lang="en-IN" dirty="0"/>
              <a:t>[2] “Nuclear Power Plants in India”, Nuclear Power Corporation of India Limited</a:t>
            </a:r>
          </a:p>
          <a:p>
            <a:r>
              <a:rPr lang="en-IN" dirty="0"/>
              <a:t>(NPCIL), retrieved 21 January 2011.</a:t>
            </a:r>
          </a:p>
          <a:p>
            <a:r>
              <a:rPr lang="en-IN" dirty="0"/>
              <a:t>[3] "Projects under Construction". NPCIL. Retrieved 10 April 2014.</a:t>
            </a:r>
          </a:p>
          <a:p>
            <a:r>
              <a:rPr lang="en-IN" dirty="0"/>
              <a:t>[4] "Nuclear Programme" (Press release). Press Information Bureau, Government of</a:t>
            </a:r>
          </a:p>
          <a:p>
            <a:r>
              <a:rPr lang="en-IN" dirty="0"/>
              <a:t>India, Department of Atomic Energy.</a:t>
            </a:r>
          </a:p>
          <a:p>
            <a:r>
              <a:rPr lang="sv-SE" dirty="0"/>
              <a:t>[5] J. B. Gupta. “Power System Analysis”.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484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851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223</TotalTime>
  <Words>645</Words>
  <Application>Microsoft Office PowerPoint</Application>
  <PresentationFormat>Widescreen</PresentationFormat>
  <Paragraphs>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Symbol</vt:lpstr>
      <vt:lpstr>Trebuchet MS</vt:lpstr>
      <vt:lpstr>Tw Cen MT</vt:lpstr>
      <vt:lpstr>Circuit</vt:lpstr>
      <vt:lpstr>Thorium : tHe new source of energy?</vt:lpstr>
      <vt:lpstr>INtroduction</vt:lpstr>
      <vt:lpstr>A new primary energy source</vt:lpstr>
      <vt:lpstr>WHICH TYPE OF NUCLEAR ENERGY?</vt:lpstr>
      <vt:lpstr>How a nuclear reactor works?</vt:lpstr>
      <vt:lpstr>Thorium fuel cycle</vt:lpstr>
      <vt:lpstr>NUCLEAR REACTION WITH THORIUM</vt:lpstr>
      <vt:lpstr>ENERGY FROM THORIUM</vt:lpstr>
      <vt:lpstr>WHY DO WE NEED THORIUM?</vt:lpstr>
      <vt:lpstr>Molten salt reactors</vt:lpstr>
      <vt:lpstr>PowerPoint Presentation</vt:lpstr>
      <vt:lpstr>THORIUM FUEL SUPPLY</vt:lpstr>
      <vt:lpstr>ENERGY COMPARISON</vt:lpstr>
      <vt:lpstr>Advantages</vt:lpstr>
      <vt:lpstr>Potential risks</vt:lpstr>
      <vt:lpstr>India’s three stage Nuclear Power program</vt:lpstr>
      <vt:lpstr>COnclusion</vt:lpstr>
      <vt:lpstr>REFERENCES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Thorium : tHe new source of energy?</dc:title>
  <dc:creator>HP</dc:creator>
  <cp:lastModifiedBy>HP</cp:lastModifiedBy>
  <cp:revision>14</cp:revision>
  <dcterms:created xsi:type="dcterms:W3CDTF">2020-11-01T02:17:19Z</dcterms:created>
  <dcterms:modified xsi:type="dcterms:W3CDTF">2020-11-01T06:00:49Z</dcterms:modified>
</cp:coreProperties>
</file>